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4" r:id="rId12"/>
    <p:sldId id="266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302" r:id="rId21"/>
    <p:sldId id="303" r:id="rId22"/>
    <p:sldId id="267" r:id="rId23"/>
    <p:sldId id="268" r:id="rId24"/>
    <p:sldId id="305" r:id="rId25"/>
    <p:sldId id="269" r:id="rId26"/>
    <p:sldId id="281" r:id="rId27"/>
    <p:sldId id="282" r:id="rId28"/>
    <p:sldId id="283" r:id="rId29"/>
    <p:sldId id="286" r:id="rId30"/>
    <p:sldId id="285" r:id="rId31"/>
    <p:sldId id="287" r:id="rId32"/>
    <p:sldId id="290" r:id="rId33"/>
    <p:sldId id="289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270" r:id="rId45"/>
  </p:sldIdLst>
  <p:sldSz cx="9144000" cy="6858000" type="screen4x3"/>
  <p:notesSz cx="68119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62F8AC-4029-4E4F-970A-79537DD6D501}">
  <a:tblStyle styleId="{8E62F8AC-4029-4E4F-970A-79537DD6D50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8"/>
          </a:solidFill>
        </a:fill>
      </a:tcStyle>
    </a:wholeTbl>
    <a:band1H>
      <a:tcTxStyle/>
      <a:tcStyle>
        <a:tcBdr/>
        <a:fill>
          <a:solidFill>
            <a:srgbClr val="CADEF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EF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207E68F-8D17-45CF-92B6-64CFE90AFC0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>
        <p:scale>
          <a:sx n="58" d="100"/>
          <a:sy n="58" d="100"/>
        </p:scale>
        <p:origin x="1544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9" name="Google Shape;69;p1:notes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 January 2023</a:t>
            </a:r>
            <a:endParaRPr/>
          </a:p>
        </p:txBody>
      </p:sp>
      <p:sp>
        <p:nvSpPr>
          <p:cNvPr id="70" name="Google Shape;70;p1:notes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1-59</a:t>
            </a:r>
            <a:endParaRPr/>
          </a:p>
        </p:txBody>
      </p:sp>
      <p:sp>
        <p:nvSpPr>
          <p:cNvPr id="71" name="Google Shape;71;p1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675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B706AE0A-1C62-965E-77DE-6D3936EF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>
            <a:extLst>
              <a:ext uri="{FF2B5EF4-FFF2-40B4-BE49-F238E27FC236}">
                <a16:creationId xmlns:a16="http://schemas.microsoft.com/office/drawing/2014/main" id="{022FD6AC-870C-4214-C7CE-63DFF64127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>
            <a:extLst>
              <a:ext uri="{FF2B5EF4-FFF2-40B4-BE49-F238E27FC236}">
                <a16:creationId xmlns:a16="http://schemas.microsoft.com/office/drawing/2014/main" id="{ED45C3C9-F7D0-8F97-D5BE-579433A14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635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9/01/2025 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11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9/01/2025 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11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9/01/2025 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11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9/01/2025 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11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9/01/2025 </a:t>
            </a: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11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9/01/2025 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11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9/01/2025 </a:t>
            </a:r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11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 rot="5400000">
            <a:off x="2377282" y="15082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9/01/2025 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11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9/01/2025 </a:t>
            </a:r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11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9/01/2025 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457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5720" lvl="0" indent="0" algn="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dirty="0"/>
          </a:p>
        </p:txBody>
      </p:sp>
      <p:sp>
        <p:nvSpPr>
          <p:cNvPr id="74" name="Google Shape;74;p11"/>
          <p:cNvSpPr txBox="1"/>
          <p:nvPr/>
        </p:nvSpPr>
        <p:spPr>
          <a:xfrm>
            <a:off x="2666811" y="234057"/>
            <a:ext cx="6108091" cy="205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463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MSc SOFTWARE SYSTEMS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22ISP71- PROJECT WORK</a:t>
            </a:r>
            <a:endParaRPr/>
          </a:p>
        </p:txBody>
      </p:sp>
      <p:sp>
        <p:nvSpPr>
          <p:cNvPr id="75" name="Google Shape;75;p11"/>
          <p:cNvSpPr txBox="1"/>
          <p:nvPr/>
        </p:nvSpPr>
        <p:spPr>
          <a:xfrm>
            <a:off x="2055724" y="2524024"/>
            <a:ext cx="708827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based Seasonality and Trend Detection in </a:t>
            </a: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Forecasting</a:t>
            </a:r>
            <a:endParaRPr sz="24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924" y="4997707"/>
            <a:ext cx="1259632" cy="1517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 descr="G:\TBI\TBI@KEC Logos\K Transform\6-5x4 product centr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3926" y="797958"/>
            <a:ext cx="1713898" cy="149046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/>
        </p:nvSpPr>
        <p:spPr>
          <a:xfrm>
            <a:off x="3405360" y="4706249"/>
            <a:ext cx="248786" cy="45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9" name="Google Shape;79;p11"/>
          <p:cNvSpPr txBox="1"/>
          <p:nvPr/>
        </p:nvSpPr>
        <p:spPr>
          <a:xfrm>
            <a:off x="2232140" y="4199335"/>
            <a:ext cx="4321059" cy="23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 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MOHAMED SHAHUL ANAS S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(22ISR027)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 MSC (SS)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3050" marR="0" lvl="0" indent="-273050" algn="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5638800" y="4175065"/>
            <a:ext cx="3505200" cy="241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: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Mr.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Vijay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M.Sc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Assistant Professor,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Department of CT-PG,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Engineering College,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73050" marR="0" lvl="0" indent="-273050" algn="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marR="0" lvl="0" indent="-273050" algn="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>
            <a:off x="725365" y="246917"/>
            <a:ext cx="7693269" cy="57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>
            <a:off x="613237" y="816219"/>
            <a:ext cx="8189240" cy="52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project addresses the issue of inaccurate sales forecasting in time-series data.</a:t>
            </a: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Traditional models struggle to capture both seasonal trends and temporal dependencies, leading to poor forecasting accuracy.</a:t>
            </a: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proposed solution is a Hybrid Deep Learning (HDL) model employing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BiLSTM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for bidirectional temporal learning, CNN–LSTM for spatial and sequential modeling, and CNN–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BiLSTM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for trend-based pattern detection.</a:t>
            </a: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This hybrid deep learning framework delivers more accurate and reliable forecasting, transforming sales prediction in dynamic retail environments.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0" y="647176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dirty="0"/>
              <a:t>9/01/2025 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B89A3C-F9AB-7A06-7499-F869B99498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2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1043608" y="50862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 txBox="1">
            <a:spLocks noGrp="1"/>
          </p:cNvSpPr>
          <p:nvPr>
            <p:ph type="body" idx="1"/>
          </p:nvPr>
        </p:nvSpPr>
        <p:spPr>
          <a:xfrm>
            <a:off x="1141312" y="1873229"/>
            <a:ext cx="7545488" cy="4195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41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3"/>
          <p:cNvSpPr txBox="1">
            <a:spLocks noGrp="1"/>
          </p:cNvSpPr>
          <p:nvPr>
            <p:ph type="dt" idx="10"/>
          </p:nvPr>
        </p:nvSpPr>
        <p:spPr>
          <a:xfrm>
            <a:off x="8554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3</a:t>
            </a:r>
            <a:endParaRPr dirty="0"/>
          </a:p>
        </p:txBody>
      </p:sp>
      <p:sp>
        <p:nvSpPr>
          <p:cNvPr id="98" name="Google Shape;98;p13"/>
          <p:cNvSpPr/>
          <p:nvPr/>
        </p:nvSpPr>
        <p:spPr>
          <a:xfrm>
            <a:off x="786384" y="2170323"/>
            <a:ext cx="8082194" cy="297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sales forecasting accuracy using a hybrid deep learning model combining CNN and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BiLSTM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both spatial and temporal patterns to better detect seasonal and trend-based sales behaviors.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reliable demand predictions to support effective inventory and business decision-making.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1406769" y="281926"/>
            <a:ext cx="7649308" cy="52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dt" idx="10"/>
          </p:nvPr>
        </p:nvSpPr>
        <p:spPr>
          <a:xfrm>
            <a:off x="8572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7/13/2025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graphicFrame>
        <p:nvGraphicFramePr>
          <p:cNvPr id="106" name="Google Shape;106;p14"/>
          <p:cNvGraphicFramePr/>
          <p:nvPr/>
        </p:nvGraphicFramePr>
        <p:xfrm>
          <a:off x="826479" y="996593"/>
          <a:ext cx="8317523" cy="5503425"/>
        </p:xfrm>
        <a:graphic>
          <a:graphicData uri="http://schemas.openxmlformats.org/drawingml/2006/table">
            <a:tbl>
              <a:tblPr firstRow="1" bandRow="1">
                <a:noFill/>
                <a:tableStyleId>{8E62F8AC-4029-4E4F-970A-79537DD6D501}</a:tableStyleId>
              </a:tblPr>
              <a:tblGrid>
                <a:gridCol w="604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6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60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Journal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proposed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based Seasonality and Trend Detection (2025)</a:t>
                      </a:r>
                      <a:endParaRPr sz="16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</a:t>
                      </a:r>
                      <a:endParaRPr sz="16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Tamilarasan Kannadasan</a:t>
                      </a:r>
                      <a:endParaRPr sz="16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CNN,LSTM</a:t>
                      </a:r>
                      <a:endParaRPr sz="16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Existing models fail to capture both trend &amp; seasonality</a:t>
                      </a:r>
                      <a:endParaRPr sz="16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AR: Probabilistic Forecasting with RNN (2021)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Salinas et al.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RNN with autoregression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scalability in probabilistic modeling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9/01/2025 </a:t>
            </a:r>
            <a:endParaRPr/>
          </a:p>
        </p:txBody>
      </p:sp>
      <p:graphicFrame>
        <p:nvGraphicFramePr>
          <p:cNvPr id="112" name="Google Shape;112;p15"/>
          <p:cNvGraphicFramePr/>
          <p:nvPr>
            <p:extLst>
              <p:ext uri="{D42A27DB-BD31-4B8C-83A1-F6EECF244321}">
                <p14:modId xmlns:p14="http://schemas.microsoft.com/office/powerpoint/2010/main" val="3262751365"/>
              </p:ext>
            </p:extLst>
          </p:nvPr>
        </p:nvGraphicFramePr>
        <p:xfrm>
          <a:off x="736491" y="983750"/>
          <a:ext cx="8238925" cy="4890500"/>
        </p:xfrm>
        <a:graphic>
          <a:graphicData uri="http://schemas.openxmlformats.org/drawingml/2006/table">
            <a:tbl>
              <a:tblPr firstRow="1" bandRow="1">
                <a:noFill/>
                <a:tableStyleId>{8E62F8AC-4029-4E4F-970A-79537DD6D501}</a:tableStyleId>
              </a:tblPr>
              <a:tblGrid>
                <a:gridCol w="65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0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Journal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Methods proposed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 Forecast in E-commerce using CNN (2017)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Kui Zhao, Can Wang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alone may not capture time dependencies</a:t>
                      </a:r>
                      <a:endParaRPr dirty="0"/>
                    </a:p>
                  </a:txBody>
                  <a:tcPr marL="68575" marR="6857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LSTM-Based Forecasting in E-commerce (2019)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Kasun Bandara et al.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Ignores spatial sales correlations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E369F3-2801-32EF-44A1-EE555B57E5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9/01/2025 </a:t>
            </a:r>
            <a:endParaRPr/>
          </a:p>
        </p:txBody>
      </p:sp>
      <p:graphicFrame>
        <p:nvGraphicFramePr>
          <p:cNvPr id="118" name="Google Shape;118;p16"/>
          <p:cNvGraphicFramePr/>
          <p:nvPr>
            <p:extLst>
              <p:ext uri="{D42A27DB-BD31-4B8C-83A1-F6EECF244321}">
                <p14:modId xmlns:p14="http://schemas.microsoft.com/office/powerpoint/2010/main" val="2966449885"/>
              </p:ext>
            </p:extLst>
          </p:nvPr>
        </p:nvGraphicFramePr>
        <p:xfrm>
          <a:off x="569059" y="758500"/>
          <a:ext cx="8442861" cy="5909000"/>
        </p:xfrm>
        <a:graphic>
          <a:graphicData uri="http://schemas.openxmlformats.org/drawingml/2006/table">
            <a:tbl>
              <a:tblPr firstRow="1" bandRow="1">
                <a:noFill/>
                <a:tableStyleId>{8E62F8AC-4029-4E4F-970A-79537DD6D501}</a:tableStyleId>
              </a:tblPr>
              <a:tblGrid>
                <a:gridCol w="85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03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727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journal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Methods Proposed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6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Multimodal NN for Demand Forecasting (2022)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Nitesh Kumar et al.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+ Sentiment Embedding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integration of contextual data.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30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SARIMA-CNN-LSTM Model (2024)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IJCJ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Adekunle Ajiboye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SARIMA + CNN + LSTM Ensemble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computational complexity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7D9C52-ECFA-9596-D0B9-543F77B632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graphicFrame>
        <p:nvGraphicFramePr>
          <p:cNvPr id="124" name="Google Shape;124;p17"/>
          <p:cNvGraphicFramePr/>
          <p:nvPr>
            <p:extLst>
              <p:ext uri="{D42A27DB-BD31-4B8C-83A1-F6EECF244321}">
                <p14:modId xmlns:p14="http://schemas.microsoft.com/office/powerpoint/2010/main" val="4078644801"/>
              </p:ext>
            </p:extLst>
          </p:nvPr>
        </p:nvGraphicFramePr>
        <p:xfrm>
          <a:off x="1008251" y="901546"/>
          <a:ext cx="8040055" cy="4435998"/>
        </p:xfrm>
        <a:graphic>
          <a:graphicData uri="http://schemas.openxmlformats.org/drawingml/2006/table">
            <a:tbl>
              <a:tblPr firstRow="1" bandRow="1">
                <a:noFill/>
                <a:tableStyleId>{8E62F8AC-4029-4E4F-970A-79537DD6D501}</a:tableStyleId>
              </a:tblPr>
              <a:tblGrid>
                <a:gridCol w="757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4172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journal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Methods Proposed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0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Short-Term Load Forecasting Method Using Integrated CNN and LSTM Network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Rafi, Deeba, Hossain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Integrated CNN-LSTM for load forecasting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Emphasizes energy forecasting; retail demand still unaddressed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12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 Fusion CNN-LSTM for Short-Term Power Consumption Forecasting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Shao, Pu, Zhang, Kim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Domain-fusion CNN-LSTM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Focused on power consumption; lacks retail application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C6C120-0E32-048B-A0A4-EF0A5B9DC3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graphicFrame>
        <p:nvGraphicFramePr>
          <p:cNvPr id="130" name="Google Shape;130;p18"/>
          <p:cNvGraphicFramePr/>
          <p:nvPr>
            <p:extLst>
              <p:ext uri="{D42A27DB-BD31-4B8C-83A1-F6EECF244321}">
                <p14:modId xmlns:p14="http://schemas.microsoft.com/office/powerpoint/2010/main" val="180668314"/>
              </p:ext>
            </p:extLst>
          </p:nvPr>
        </p:nvGraphicFramePr>
        <p:xfrm>
          <a:off x="619549" y="757787"/>
          <a:ext cx="8423025" cy="5342425"/>
        </p:xfrm>
        <a:graphic>
          <a:graphicData uri="http://schemas.openxmlformats.org/drawingml/2006/table">
            <a:tbl>
              <a:tblPr firstRow="1" bandRow="1">
                <a:noFill/>
                <a:tableStyleId>{8E62F8AC-4029-4E4F-970A-79537DD6D501}</a:tableStyleId>
              </a:tblPr>
              <a:tblGrid>
                <a:gridCol w="64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6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8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Journal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Methods proposed 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 Series Forecasting with Conditional CNN (2024)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Springer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Anastasia </a:t>
                      </a:r>
                      <a:r>
                        <a:rPr lang="en-US" sz="1600" b="0" u="none" strike="noStrike" cap="none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Borov</a:t>
                      </a: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Conditional CNN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tested on seasonal business data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 of Deep Time Series Models (2025)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Springer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David Salinas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Various deep learning models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Missing hybrid interpretability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963B84-9511-19D3-D341-AE4E57DAB2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graphicFrame>
        <p:nvGraphicFramePr>
          <p:cNvPr id="136" name="Google Shape;136;p19"/>
          <p:cNvGraphicFramePr/>
          <p:nvPr>
            <p:extLst>
              <p:ext uri="{D42A27DB-BD31-4B8C-83A1-F6EECF244321}">
                <p14:modId xmlns:p14="http://schemas.microsoft.com/office/powerpoint/2010/main" val="2102118265"/>
              </p:ext>
            </p:extLst>
          </p:nvPr>
        </p:nvGraphicFramePr>
        <p:xfrm>
          <a:off x="1283678" y="650628"/>
          <a:ext cx="7323975" cy="4302775"/>
        </p:xfrm>
        <a:graphic>
          <a:graphicData uri="http://schemas.openxmlformats.org/drawingml/2006/table">
            <a:tbl>
              <a:tblPr firstRow="1" bandRow="1">
                <a:noFill/>
                <a:tableStyleId>{5207E68F-8D17-45CF-92B6-64CFE90AFC05}</a:tableStyleId>
              </a:tblPr>
              <a:tblGrid>
                <a:gridCol w="73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8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1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journal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Methods Proposed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Survey on Time Series Models (2025)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Wiley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Zhang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ARIMA, DL, Transformer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High-level summary, lacks domain-specific focus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Demand Forecasting in SCM using DL (2023)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MDPI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Deepika M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LSTM, CNN, GAN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 limited to SCM only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FE105F-3563-EA5A-54FF-2411E614C5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graphicFrame>
        <p:nvGraphicFramePr>
          <p:cNvPr id="142" name="Google Shape;142;p20"/>
          <p:cNvGraphicFramePr/>
          <p:nvPr>
            <p:extLst>
              <p:ext uri="{D42A27DB-BD31-4B8C-83A1-F6EECF244321}">
                <p14:modId xmlns:p14="http://schemas.microsoft.com/office/powerpoint/2010/main" val="1137926944"/>
              </p:ext>
            </p:extLst>
          </p:nvPr>
        </p:nvGraphicFramePr>
        <p:xfrm>
          <a:off x="553916" y="243398"/>
          <a:ext cx="8435848" cy="5826700"/>
        </p:xfrm>
        <a:graphic>
          <a:graphicData uri="http://schemas.openxmlformats.org/drawingml/2006/table">
            <a:tbl>
              <a:tblPr firstRow="1" bandRow="1">
                <a:noFill/>
                <a:tableStyleId>{5207E68F-8D17-45CF-92B6-64CFE90AFC05}</a:tableStyleId>
              </a:tblPr>
              <a:tblGrid>
                <a:gridCol w="608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3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6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1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journal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Methods Proposed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 Forecasting via RNNs &amp; Transformers (2022)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JSAI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Valles-Perez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RNN + Transformer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Transformers alone may be overkill for small data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for Stock Price Prediction (2020)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Sidra Mehtab, Jaydip Sen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+ LSTM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finance  lacks generalization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6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Forecasting using CNN-LSTM-GRU (2023)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IJETT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Rizky Naufal, Antoni Wibowo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+ LSTM + GRU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Resource-heavy triple-model setup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25A865-0CD2-6BC3-B66A-C9FD1BD71B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8950-610E-8878-0650-4B8B595C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136525"/>
            <a:ext cx="8229600" cy="696459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E5ED7E-6D1D-C71B-5177-5E5DD51296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dirty="0"/>
              <a:t>9/01/2025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F635D-AFF8-1F69-4E4D-D53F8E95BA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11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172EE6-871F-6203-7446-3BD47BB47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88" y="1306354"/>
            <a:ext cx="808428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 learning models such as Logistic Regression, Random Forest, and SVM often struggle to handle non-linear sales trends, noisy data, and seasonal variations in retail forecasting.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are limited in capturing complex relationships and temporal dependencies present in time-series data.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hybrid deep learning systems often fail to fully integrate both local spatial information and long-term temporal dependencies, reducing their overall forecasting accuracy.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 are strong in extracting spatial features like local sales spikes but require a complementary temporal component to model sequential dependencies over time.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718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690196" y="177208"/>
            <a:ext cx="7763608" cy="63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Google Shape;148;p2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811720"/>
                <a:ext cx="8229600" cy="4389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71500" lvl="0" indent="-342900" algn="just" rtl="0">
                  <a:lnSpc>
                    <a:spcPct val="150000"/>
                  </a:lnSpc>
                  <a:spcBef>
                    <a:spcPts val="360"/>
                  </a:spcBef>
                  <a:spcAft>
                    <a:spcPts val="0"/>
                  </a:spcAft>
                  <a:buSzPts val="1440"/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system processes historical demand datasets to extract seasonal and trend-based patterns using deep learning approaches. Time features such as year, month, and week are derived for structured analysis.</a:t>
                </a:r>
              </a:p>
              <a:p>
                <a:pPr marL="571500" lvl="0" indent="-342900" algn="just" rtl="0">
                  <a:lnSpc>
                    <a:spcPct val="150000"/>
                  </a:lnSpc>
                  <a:spcBef>
                    <a:spcPts val="360"/>
                  </a:spcBef>
                  <a:spcAft>
                    <a:spcPts val="0"/>
                  </a:spcAft>
                  <a:buSzPts val="1440"/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Min–Max normalization is applied to scale demand values, and a sliding window approach is used to generate time-series sequences while maintaining temporal order.</a:t>
                </a:r>
              </a:p>
              <a:p>
                <a:pPr marL="571500" lvl="0" indent="-342900" algn="just" rtl="0">
                  <a:lnSpc>
                    <a:spcPct val="150000"/>
                  </a:lnSpc>
                  <a:spcBef>
                    <a:spcPts val="360"/>
                  </a:spcBef>
                  <a:spcAft>
                    <a:spcPts val="0"/>
                  </a:spcAft>
                  <a:buSzPts val="1440"/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CNN-</a:t>
                </a:r>
                <a:r>
                  <a:rPr lang="en-US" dirty="0" err="1">
                    <a:latin typeface="Times New Roman"/>
                    <a:ea typeface="Times New Roman"/>
                    <a:cs typeface="Times New Roman"/>
                    <a:sym typeface="Times New Roman"/>
                  </a:rPr>
                  <a:t>BiLSTM</a:t>
                </a:r>
                <a:r>
                  <a:rPr lang="en-US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 model achieves superior accuracy by combining convolutional spatial extraction with bidirectional temporal learning. Hybrid models like CNN–LSTM and CNN–</a:t>
                </a:r>
                <a:r>
                  <a:rPr lang="en-US" dirty="0" err="1">
                    <a:latin typeface="Times New Roman"/>
                    <a:ea typeface="Times New Roman"/>
                    <a:cs typeface="Times New Roman"/>
                    <a:sym typeface="Times New Roman"/>
                  </a:rPr>
                  <a:t>BiLSTM</a:t>
                </a:r>
                <a:r>
                  <a:rPr lang="en-US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 further enhance learning of seasonality and trends.</a:t>
                </a:r>
              </a:p>
              <a:p>
                <a:pPr marL="5715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Evaluation via RMSE, MAE, MAPE,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R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-US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and  metrics shows reliable and precise sales forecasting supporting better business decisions.</a:t>
                </a:r>
              </a:p>
              <a:p>
                <a:pPr marL="228600" lvl="0" indent="0" algn="just" rtl="0">
                  <a:lnSpc>
                    <a:spcPct val="150000"/>
                  </a:lnSpc>
                  <a:spcBef>
                    <a:spcPts val="360"/>
                  </a:spcBef>
                  <a:spcAft>
                    <a:spcPts val="0"/>
                  </a:spcAft>
                  <a:buSzPts val="1440"/>
                  <a:buNone/>
                </a:pPr>
                <a:r>
                  <a:rPr lang="en-US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dirty="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>
          <p:sp>
            <p:nvSpPr>
              <p:cNvPr id="148" name="Google Shape;148;p2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811720"/>
                <a:ext cx="8229600" cy="4389437"/>
              </a:xfrm>
              <a:prstGeom prst="rect">
                <a:avLst/>
              </a:prstGeom>
              <a:blipFill>
                <a:blip r:embed="rId3"/>
                <a:stretch>
                  <a:fillRect r="-741" b="-445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6B673B-DD29-3176-28ED-F5D89A4DEF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C7F-6A33-5FF0-D129-2DE04CE2C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9656"/>
            <a:ext cx="8229600" cy="613961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6BCA7-2C9B-CB01-3C60-F55E75709C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dirty="0"/>
              <a:t>9/01/2025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C643F-9CF6-1B3F-2375-B0B149A16F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13</a:t>
            </a:r>
          </a:p>
        </p:txBody>
      </p:sp>
      <p:sp>
        <p:nvSpPr>
          <p:cNvPr id="7" name="AutoShape 4" descr="Uploaded image">
            <a:extLst>
              <a:ext uri="{FF2B5EF4-FFF2-40B4-BE49-F238E27FC236}">
                <a16:creationId xmlns:a16="http://schemas.microsoft.com/office/drawing/2014/main" id="{168668F3-498C-571C-75C5-04DE23AEBD8F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457200" y="2355272"/>
            <a:ext cx="1306945" cy="20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3716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6C3AB1-F6C0-4310-7723-CAA5461062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7" t="6684" r="12071" b="7378"/>
          <a:stretch>
            <a:fillRect/>
          </a:stretch>
        </p:blipFill>
        <p:spPr bwMode="auto">
          <a:xfrm>
            <a:off x="2590800" y="1043617"/>
            <a:ext cx="4360843" cy="538472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5023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8DFB-3389-0B76-4CA9-ADE26226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8690"/>
            <a:ext cx="8229600" cy="499341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81AC-7492-6EF9-2FF1-9BA0BA587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563" y="1222085"/>
            <a:ext cx="8229600" cy="4596823"/>
          </a:xfrm>
        </p:spPr>
        <p:txBody>
          <a:bodyPr/>
          <a:lstStyle/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 Data Acquisition &amp; Exploration Module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Data Preprocessing Module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Aggregation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 Seasonal &amp; Trend Analysis Module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Decomposition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Autocorrelation Analysis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4. Sequence Generation Module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Sliding Window Method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Input-Output Pair Generation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8FE2F-3C06-2CE0-6136-B8C62E0DA8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E5475-9B5F-6A4E-069F-C5AD087C72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3063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4891-D820-8782-48C2-F3E4EAD7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988"/>
            <a:ext cx="8229600" cy="53282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24937-B075-C89D-159F-D231352AE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5524" y="1026986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Dataset Splitting Module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Set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Model Construction Module</a:t>
            </a: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CNN-LSTM Model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Model Training Module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Parameters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Process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Prediction &amp; Evaluation Module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marL="13716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A433B-7E50-D906-817F-75C559CFE2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CC2AD-1835-93C7-2D15-DF970188FE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03397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FFEA-F90D-BDC4-E019-9FC42C8FC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08577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D3F6A49-8133-5D00-1A59-5CD47AEBB2D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68956" y="1041978"/>
                <a:ext cx="8229600" cy="4194166"/>
              </a:xfrm>
            </p:spPr>
            <p:txBody>
              <a:bodyPr/>
              <a:lstStyle/>
              <a:p>
                <a:pPr marL="13716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Data Exploration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 dataset.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Extract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time-based features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(Year, Month).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missing values and outliers.</a:t>
                </a:r>
              </a:p>
              <a:p>
                <a:pPr marL="13716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Data Preprocessing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Drop irrelevant attributes.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Min-Max Normalization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𝑁𝑜𝑟𝑚𝑎𝑙𝑖𝑧𝑒𝑑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𝑉𝑎𝑙𝑢𝑒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𝑀𝑖𝑛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𝑀𝑖𝑛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Data Aggregation &amp; Visualization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Aggregate sales monthly/yearly.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Visualize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sales trends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(line plots).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top-selling products (bar charts).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D3F6A49-8133-5D00-1A59-5CD47AEBB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8956" y="1041978"/>
                <a:ext cx="8229600" cy="4194166"/>
              </a:xfrm>
              <a:blipFill>
                <a:blip r:embed="rId2"/>
                <a:stretch>
                  <a:fillRect b="-319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C3468-4BB4-B35E-9F56-96DCE3FB32A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568106"/>
            <a:ext cx="2133600" cy="365125"/>
          </a:xfrm>
        </p:spPr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3A87-D0F4-7D89-3865-A6F15707DB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6360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9928-FCC5-E616-D305-0D15FD5F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4108"/>
            <a:ext cx="8229600" cy="44392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092CB-D846-A85A-5EF8-F760C5FB6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301" y="87803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Seasonal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sales into:</a:t>
            </a:r>
          </a:p>
          <a:p>
            <a:pPr lvl="1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(Tt)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long-term growth/decline.</a:t>
            </a:r>
          </a:p>
          <a:p>
            <a:pPr lvl="1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 (St)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repeating patterns (e.g., December spikes).</a:t>
            </a:r>
          </a:p>
          <a:p>
            <a:pPr lvl="1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Residuals (Rt)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random variations.</a:t>
            </a:r>
            <a:endParaRPr lang="ar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e) Autocorrelation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how past sales values affect future sales.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select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values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sequence generation.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Sequence Preparation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Sliding Window: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past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days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sales.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next day sales.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7863-901C-B702-9E38-17826502F6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FB32F-678C-C948-CE54-23A604EBAC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5742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4398-9E7A-CF79-D877-DE7620E6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508"/>
            <a:ext cx="8229600" cy="54552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FCB46-9663-EC6F-F6EE-85FEB4034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09882"/>
            <a:ext cx="8229600" cy="4389437"/>
          </a:xfrm>
        </p:spPr>
        <p:txBody>
          <a:bodyPr/>
          <a:lstStyle/>
          <a:p>
            <a:pPr marL="13716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 Data Splitting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training, 20% testing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 Model Construction</a:t>
            </a:r>
          </a:p>
          <a:p>
            <a:pPr>
              <a:lnSpc>
                <a:spcPct val="150000"/>
              </a:lnSpc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bidirectional temporal dependencies in sales sequences.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CNN–LSTM 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CNN layers extract local features → LSTM layers learn sequential patterns → Dense layer predicts demand.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CNN–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CNN layers extract spatial features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 capture forward and backward dependencies → Dense layer outputs final forecast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Model Training</a:t>
            </a:r>
          </a:p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Epochs = 60, Batch Size = 20.</a:t>
            </a:r>
          </a:p>
          <a:p>
            <a:pPr marL="13716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00921-C2BD-0F22-8A5F-9174FFC1C2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09761-336B-8572-9F41-8A48416A40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67265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792FD-695A-D55C-1830-542525825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5806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DBD3E2-0846-ACEC-FC0C-771E5131B35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19760" y="2798921"/>
                <a:ext cx="8229600" cy="4389437"/>
              </a:xfrm>
            </p:spPr>
            <p:txBody>
              <a:bodyPr/>
              <a:lstStyle/>
              <a:p>
                <a:pPr marL="137160" indent="0">
                  <a:lnSpc>
                    <a:spcPct val="150000"/>
                  </a:lnSpc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(j) Prediction &amp; Evaluation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normalized predictions back to original scale.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 using: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RMSE (Root Mean Square Error)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MAE (Mean Absolute Error)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MAPE (Mean Absolute Percentage Error)   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(Coefficient of Determination)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DBD3E2-0846-ACEC-FC0C-771E5131B3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9760" y="2798921"/>
                <a:ext cx="8229600" cy="438943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51976-1BE3-C8F7-FD00-F206CA2508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480FE-4E8B-4191-CC8C-25B16F80AC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3013AE-9C2C-56EE-1C36-298EFDBD2E49}"/>
              </a:ext>
            </a:extLst>
          </p:cNvPr>
          <p:cNvSpPr txBox="1"/>
          <p:nvPr/>
        </p:nvSpPr>
        <p:spPr>
          <a:xfrm>
            <a:off x="619760" y="1325633"/>
            <a:ext cx="4572000" cy="1473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20040" algn="l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⮚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Loss = </a:t>
            </a: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MSE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457200" marR="0" lvl="0" indent="-320040" algn="l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⮚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Optimizer adjusts weights to minimize error.</a:t>
            </a:r>
          </a:p>
        </p:txBody>
      </p:sp>
    </p:spTree>
    <p:extLst>
      <p:ext uri="{BB962C8B-B14F-4D97-AF65-F5344CB8AC3E}">
        <p14:creationId xmlns:p14="http://schemas.microsoft.com/office/powerpoint/2010/main" val="853524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F19B-8E88-CDE0-5B10-A34B53CF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02" y="404260"/>
            <a:ext cx="8229600" cy="577315"/>
          </a:xfrm>
        </p:spPr>
        <p:txBody>
          <a:bodyPr/>
          <a:lstStyle/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EVALUATION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7DC733-B292-DE49-E198-C934EED22E0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34202" y="981575"/>
                <a:ext cx="8229600" cy="4389437"/>
              </a:xfrm>
            </p:spPr>
            <p:txBody>
              <a:bodyPr/>
              <a:lstStyle/>
              <a:p>
                <a:pPr marL="137160" indent="0">
                  <a:lnSpc>
                    <a:spcPct val="15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1.Root Mean Squared Error (RMSE)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square root of the average squared differences between              </a:t>
                </a:r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 and actual sales values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lower values indicate better accuracy</a:t>
                </a:r>
              </a:p>
              <a:p>
                <a:pPr marL="13716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</a:t>
                </a:r>
                <a14:m>
                  <m:oMath xmlns:m="http://schemas.openxmlformats.org/officeDocument/2006/math">
                    <m:r>
                      <a:rPr lang="en-IN" b="1" i="1"/>
                      <m:t>𝑹𝑴𝑺𝑬</m:t>
                    </m:r>
                    <m:r>
                      <a:rPr lang="en-IN" b="1" i="1"/>
                      <m:t>=</m:t>
                    </m:r>
                    <m:rad>
                      <m:radPr>
                        <m:degHide m:val="on"/>
                        <m:ctrlPr>
                          <a:rPr lang="en-IN" b="1" i="1"/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1" i="1"/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IN" b="1" i="1"/>
                                </m:ctrlPr>
                              </m:naryPr>
                              <m:sub>
                                <m:r>
                                  <a:rPr lang="en-IN" b="1" i="1"/>
                                  <m:t>𝒊</m:t>
                                </m:r>
                                <m:r>
                                  <a:rPr lang="en-IN" b="1" i="1"/>
                                  <m:t>=</m:t>
                                </m:r>
                                <m:r>
                                  <a:rPr lang="en-IN" b="1" i="1"/>
                                  <m:t>𝟏</m:t>
                                </m:r>
                              </m:sub>
                              <m:sup>
                                <m:r>
                                  <a:rPr lang="en-IN" b="1" i="1"/>
                                  <m:t>𝒏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IN" b="1" i="1"/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IN" b="1" i="1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b="1" i="1"/>
                                            </m:ctrlPr>
                                          </m:sSubPr>
                                          <m:e>
                                            <m:r>
                                              <a:rPr lang="en-IN" b="1" i="1"/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IN" b="1" i="1"/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en-IN" b="1" i="1"/>
                                          <m:t>−</m:t>
                                        </m:r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b="1" i="1"/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b="1" i="1"/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b="1" i="1"/>
                                                  <m:t>𝒚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b="1" i="1"/>
                                                  <m:t>𝒊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IN" b="1" i="1"/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IN" b="1" i="1"/>
                              <m:t>𝒏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lnSpc>
                    <a:spcPct val="15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Mean Absolute Error (MAE)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captures the average magnitude of errors without considering direction, giving an intuitive sense of average forecast error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7DC733-B292-DE49-E198-C934EED22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4202" y="981575"/>
                <a:ext cx="8229600" cy="4389437"/>
              </a:xfrm>
              <a:blipFill>
                <a:blip r:embed="rId2"/>
                <a:stretch>
                  <a:fillRect r="-4741" b="-4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C6AD-C946-E312-9795-CFB026A3EB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dirty="0"/>
              <a:t>9/01/2025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84737-34BD-868F-5893-28D6A0F327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D98C67-DEAD-6594-F22B-DC829C68CC74}"/>
                  </a:ext>
                </a:extLst>
              </p:cNvPr>
              <p:cNvSpPr txBox="1"/>
              <p:nvPr/>
            </p:nvSpPr>
            <p:spPr>
              <a:xfrm>
                <a:off x="2711986" y="5593294"/>
                <a:ext cx="4426945" cy="710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𝑴𝑨𝑬</m:t>
                      </m:r>
                      <m:r>
                        <a:rPr lang="en-IN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sz="20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IN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IN" sz="20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IN" sz="20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IN" sz="20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D98C67-DEAD-6594-F22B-DC829C68C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986" y="5593294"/>
                <a:ext cx="4426945" cy="7100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168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6407-5039-0595-3DC9-D3CB37090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500"/>
            <a:ext cx="8229600" cy="538814"/>
          </a:xfrm>
        </p:spPr>
        <p:txBody>
          <a:bodyPr/>
          <a:lstStyle/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EVALUATION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BBF0DF-DB30-D05A-52C9-C32064D04F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3453" y="1157163"/>
                <a:ext cx="8229600" cy="4389437"/>
              </a:xfrm>
            </p:spPr>
            <p:txBody>
              <a:bodyPr/>
              <a:lstStyle/>
              <a:p>
                <a:pPr marL="137160" indent="0">
                  <a:lnSpc>
                    <a:spcPct val="15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Mean Absolute Percentage Error (MAPE)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expresses forecasting errors as a percentage of actual sales, useful for       </a:t>
                </a:r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comparing accuracy across different scales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37160" indent="0">
                  <a:lnSpc>
                    <a:spcPct val="150000"/>
                  </a:lnSpc>
                  <a:buNone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/>
                        <m:t>𝑴𝑨𝑷𝑬</m:t>
                      </m:r>
                      <m:r>
                        <a:rPr lang="en-IN" b="1" i="1"/>
                        <m:t>=</m:t>
                      </m:r>
                      <m:f>
                        <m:fPr>
                          <m:ctrlPr>
                            <a:rPr lang="en-IN" b="1" i="1"/>
                          </m:ctrlPr>
                        </m:fPr>
                        <m:num>
                          <m:r>
                            <a:rPr lang="en-IN" b="1" i="1"/>
                            <m:t>𝟏𝟎𝟎</m:t>
                          </m:r>
                        </m:num>
                        <m:den>
                          <m:r>
                            <a:rPr lang="en-IN" b="1" i="1"/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b="1" i="1"/>
                          </m:ctrlPr>
                        </m:naryPr>
                        <m:sub>
                          <m:r>
                            <a:rPr lang="en-IN" b="1" i="1"/>
                            <m:t>𝒊</m:t>
                          </m:r>
                          <m:r>
                            <a:rPr lang="en-IN" b="1" i="1"/>
                            <m:t>=</m:t>
                          </m:r>
                          <m:r>
                            <a:rPr lang="en-IN" b="1" i="1"/>
                            <m:t>𝟏</m:t>
                          </m:r>
                        </m:sub>
                        <m:sup>
                          <m:r>
                            <a:rPr lang="en-IN" b="1" i="1"/>
                            <m:t>𝒏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b="1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b="1" i="1"/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b="1" i="1"/>
                                      </m:ctrlPr>
                                    </m:sSubPr>
                                    <m:e>
                                      <m:r>
                                        <a:rPr lang="en-IN" b="1" i="1"/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IN" b="1" i="1"/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IN" b="1" i="1"/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IN" b="1" i="1"/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b="1" i="1"/>
                                          </m:ctrlPr>
                                        </m:sSubPr>
                                        <m:e>
                                          <m:r>
                                            <a:rPr lang="en-IN" b="1" i="1"/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IN" b="1" i="1"/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acc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b="1" i="1"/>
                                      </m:ctrlPr>
                                    </m:sSubPr>
                                    <m:e>
                                      <m:r>
                                        <a:rPr lang="en-IN" b="1" i="1"/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IN" b="1" i="1"/>
                                        <m:t>𝒊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IN" b="1" dirty="0"/>
              </a:p>
              <a:p>
                <a:pPr marL="137160" indent="0">
                  <a:lnSpc>
                    <a:spcPct val="15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R-squared (R²)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coefficient of determination measuring the proportion of variance in sales explained by the model, with values closer to 1 indicating better fit.</a:t>
                </a:r>
              </a:p>
              <a:p>
                <a:pPr marL="137160" indent="0">
                  <a:lnSpc>
                    <a:spcPct val="150000"/>
                  </a:lnSpc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/>
                        </m:ctrlPr>
                      </m:sSupPr>
                      <m:e>
                        <m:r>
                          <a:rPr lang="en-IN" b="1" i="1"/>
                          <m:t>𝑹</m:t>
                        </m:r>
                      </m:e>
                      <m:sup>
                        <m:r>
                          <a:rPr lang="en-IN" b="1" i="1"/>
                          <m:t>𝟐</m:t>
                        </m:r>
                      </m:sup>
                    </m:sSup>
                    <m:r>
                      <a:rPr lang="en-IN" b="1" i="1"/>
                      <m:t>=</m:t>
                    </m:r>
                    <m:r>
                      <a:rPr lang="en-IN" b="1" i="1"/>
                      <m:t>𝟏</m:t>
                    </m:r>
                    <m:r>
                      <a:rPr lang="en-IN" b="1" i="1"/>
                      <m:t>−</m:t>
                    </m:r>
                    <m:f>
                      <m:fPr>
                        <m:ctrlPr>
                          <a:rPr lang="en-IN" b="1" i="1"/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IN" b="1" i="1"/>
                            </m:ctrlPr>
                          </m:naryPr>
                          <m:sub>
                            <m:r>
                              <a:rPr lang="en-IN" b="1" i="1"/>
                              <m:t>𝒊</m:t>
                            </m:r>
                            <m:r>
                              <a:rPr lang="en-IN" b="1" i="1"/>
                              <m:t>=</m:t>
                            </m:r>
                            <m:r>
                              <a:rPr lang="en-IN" b="1" i="1"/>
                              <m:t>𝟏</m:t>
                            </m:r>
                          </m:sub>
                          <m:sup>
                            <m:r>
                              <a:rPr lang="en-IN" b="1" i="1"/>
                              <m:t>𝒏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IN" b="1" i="1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b="1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1" i="1"/>
                                        </m:ctrlPr>
                                      </m:sSubPr>
                                      <m:e>
                                        <m:r>
                                          <a:rPr lang="en-IN" b="1" i="1"/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IN" b="1" i="1"/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IN" b="1" i="1"/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IN" b="1" i="1"/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IN" b="1" i="1"/>
                                            </m:ctrlPr>
                                          </m:sSubPr>
                                          <m:e>
                                            <m:r>
                                              <a:rPr lang="en-IN" b="1" i="1"/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IN" b="1" i="1"/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IN" b="1" i="1"/>
                                  <m:t>𝟐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IN" b="1" i="1"/>
                            </m:ctrlPr>
                          </m:naryPr>
                          <m:sub>
                            <m:r>
                              <a:rPr lang="en-IN" b="1" i="1"/>
                              <m:t>𝒊</m:t>
                            </m:r>
                            <m:r>
                              <a:rPr lang="en-IN" b="1" i="1"/>
                              <m:t>=</m:t>
                            </m:r>
                            <m:r>
                              <a:rPr lang="en-IN" b="1" i="1"/>
                              <m:t>𝟏</m:t>
                            </m:r>
                          </m:sub>
                          <m:sup>
                            <m:r>
                              <a:rPr lang="en-IN" b="1" i="1"/>
                              <m:t>𝒏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IN" b="1" i="1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b="1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1" i="1"/>
                                        </m:ctrlPr>
                                      </m:sSubPr>
                                      <m:e>
                                        <m:r>
                                          <a:rPr lang="en-IN" b="1" i="1"/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IN" b="1" i="1"/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IN" b="1" i="1"/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IN" b="1" i="1"/>
                                        </m:ctrlPr>
                                      </m:accPr>
                                      <m:e>
                                        <m:r>
                                          <a:rPr lang="en-IN" b="1" i="1"/>
                                          <m:t>𝒚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IN" b="1" i="1"/>
                                  <m:t>𝟐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IN" b="1" dirty="0"/>
              </a:p>
              <a:p>
                <a:pPr marL="137160" indent="0">
                  <a:lnSpc>
                    <a:spcPct val="150000"/>
                  </a:lnSpc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BBF0DF-DB30-D05A-52C9-C32064D04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3453" y="1157163"/>
                <a:ext cx="8229600" cy="4389437"/>
              </a:xfrm>
              <a:blipFill>
                <a:blip r:embed="rId2"/>
                <a:stretch>
                  <a:fillRect r="-148" b="-168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595E1-B0E1-1107-A9D1-52C71AAC65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dirty="0"/>
              <a:t>9/01/2025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5D910-4EFA-E030-2DFE-3F918B2CE2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    21</a:t>
            </a:r>
          </a:p>
        </p:txBody>
      </p:sp>
    </p:spTree>
    <p:extLst>
      <p:ext uri="{BB962C8B-B14F-4D97-AF65-F5344CB8AC3E}">
        <p14:creationId xmlns:p14="http://schemas.microsoft.com/office/powerpoint/2010/main" val="147007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1046285" y="140057"/>
            <a:ext cx="8229600" cy="102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>
            <a:off x="694593" y="1310807"/>
            <a:ext cx="8229600" cy="4712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internal_client_id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product_ean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sub_category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units_sold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selling_price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gross_merchandise_value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gross_selling_value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Records: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~43,034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file (.xlsx)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Sales Dataset (provided by EQREV company)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286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2"/>
          <p:cNvSpPr txBox="1">
            <a:spLocks noGrp="1"/>
          </p:cNvSpPr>
          <p:nvPr>
            <p:ph type="dt" idx="10"/>
          </p:nvPr>
        </p:nvSpPr>
        <p:spPr>
          <a:xfrm>
            <a:off x="85725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sp>
        <p:nvSpPr>
          <p:cNvPr id="157" name="Google Shape;157;p2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22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title"/>
          </p:nvPr>
        </p:nvSpPr>
        <p:spPr>
          <a:xfrm>
            <a:off x="685800" y="33557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PREPROCESSING TECHNIQUES</a:t>
            </a:r>
            <a:endParaRPr dirty="0"/>
          </a:p>
        </p:txBody>
      </p:sp>
      <p:sp>
        <p:nvSpPr>
          <p:cNvPr id="163" name="Google Shape;163;p23"/>
          <p:cNvSpPr txBox="1">
            <a:spLocks noGrp="1"/>
          </p:cNvSpPr>
          <p:nvPr>
            <p:ph type="body" idx="1"/>
          </p:nvPr>
        </p:nvSpPr>
        <p:spPr>
          <a:xfrm>
            <a:off x="457200" y="1783068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Data Cleaning: Missing values in sales and duplicate records are removed or imputed to ensure dataset quality.</a:t>
            </a: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Normalization: Numerical features like sales, prices, and gross merchandise values are scaled using Min-Max scaling to a standard range between 0 and 1, ensuring balanced influence during training.</a:t>
            </a: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Categorical Encoding: Categorical attributes such as product category, sub-category, and city name are converted to numerical representations using one-hot encoding or label encoding methods for deep learning input compatibility.</a:t>
            </a:r>
          </a:p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9F4973-23C8-D2EF-A744-D64B590100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0DFDDE17-1245-183D-EBDC-639C1E46E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>
            <a:extLst>
              <a:ext uri="{FF2B5EF4-FFF2-40B4-BE49-F238E27FC236}">
                <a16:creationId xmlns:a16="http://schemas.microsoft.com/office/drawing/2014/main" id="{095858EA-0416-A809-5347-A8450AE672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3557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PREPROCESSING TECHNIQUES</a:t>
            </a:r>
            <a:endParaRPr dirty="0"/>
          </a:p>
        </p:txBody>
      </p:sp>
      <p:sp>
        <p:nvSpPr>
          <p:cNvPr id="163" name="Google Shape;163;p23">
            <a:extLst>
              <a:ext uri="{FF2B5EF4-FFF2-40B4-BE49-F238E27FC236}">
                <a16:creationId xmlns:a16="http://schemas.microsoft.com/office/drawing/2014/main" id="{4F3D38C9-4937-0862-009D-AA0B1D89D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Outlier Treatment: Abnormally high sales spikes or price values are identified and handled to prevent distortion of the training process.</a:t>
            </a: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Feature Engineering: Time-based features such as year, month, day of the week, and weekend indicators are extracted from date information to enhance seasonal and temporal pattern learning.</a:t>
            </a:r>
          </a:p>
          <a:p>
            <a:pPr marL="457200" lvl="0" indent="-32004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Sequence Generation: A sliding window method is used to segment the cleaned and normalized data into sequential time-series samples, preserving temporal order for input to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BiLSTM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CNN-LSTM, and CNN-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BiLSTM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models.</a:t>
            </a:r>
            <a:endParaRPr dirty="0"/>
          </a:p>
        </p:txBody>
      </p:sp>
      <p:sp>
        <p:nvSpPr>
          <p:cNvPr id="164" name="Google Shape;164;p23">
            <a:extLst>
              <a:ext uri="{FF2B5EF4-FFF2-40B4-BE49-F238E27FC236}">
                <a16:creationId xmlns:a16="http://schemas.microsoft.com/office/drawing/2014/main" id="{3C1DF67D-B4F6-45D1-C604-DB842E8C0A5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0C470F-B9A4-5299-09B6-2A3B823D36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06885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861646" y="704850"/>
            <a:ext cx="7825154" cy="67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Tools and Technologies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9/01/2025 </a:t>
            </a:r>
            <a:endParaRPr dirty="0"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703384" y="1566697"/>
            <a:ext cx="772843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Python</a:t>
            </a:r>
            <a:endParaRPr dirty="0"/>
          </a:p>
          <a:p>
            <a:pPr marL="0" marR="0" lvl="0" indent="-127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Libraries/Frameworks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TensorFlow/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Keras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Scikit-learn, Pandas,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Numpy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Matplotlib, Seaborn</a:t>
            </a:r>
            <a:endParaRPr dirty="0"/>
          </a:p>
          <a:p>
            <a:pPr marL="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Google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Jupyter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Notebook</a:t>
            </a:r>
            <a:endParaRPr dirty="0"/>
          </a:p>
          <a:p>
            <a:pPr marL="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Line Plot (Actual vs Predicted), Loss Curve, Feature Correlation Heatmap</a:t>
            </a:r>
            <a:endParaRPr dirty="0"/>
          </a:p>
          <a:p>
            <a:pPr marL="0" lvl="0" indent="-127000" algn="just">
              <a:lnSpc>
                <a:spcPct val="150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EQREV company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Customer Sales Dataset(Sale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s.xlsx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CAA196-506E-9C94-2458-34C97849C4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BFC2-B7B9-E6C0-DA03-D7F53A5C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7731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497DA-0D0A-67EB-3900-59A461F02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51285"/>
            <a:ext cx="8229600" cy="5073316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packages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557AA-7DCD-8E4C-648D-B8AC258EB01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545262"/>
            <a:ext cx="2133600" cy="244475"/>
          </a:xfrm>
        </p:spPr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2FD7E-00AA-6FB6-BC2F-145F79F039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9CD32D-7B8B-87AC-8D68-F5563F2CC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91" y="2009309"/>
            <a:ext cx="8537609" cy="408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18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D17C-4E38-C92F-3F09-CBBEC26B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498308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0D332-6AC6-2ADC-0C41-77CC1D654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the necessary modules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3F469-36A7-45ED-842C-9184B3277A9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484937"/>
            <a:ext cx="2133600" cy="365125"/>
          </a:xfrm>
        </p:spPr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11267-065C-646F-2ABA-6732F7789E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27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3565A7-BE97-922A-BA4D-DE8215738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2489731"/>
            <a:ext cx="8514080" cy="283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39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44C7-4A1D-F7BE-3279-12829EEA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1E92A-7D4C-59D3-6E82-34DE15165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the Dataset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A8CD2-BA90-BB03-C844-B6F142C20D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AED4B-036A-134D-8F94-AAAABB124E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28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4AEB43-9ED7-1E73-0904-BF163FFE0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0" y="2106092"/>
            <a:ext cx="8554720" cy="388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03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CEA1-24EE-0453-A2FF-10B1FB22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A993-DCBF-359E-2A3C-73B70399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24CFB-D5DF-51B5-AA76-375CED605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5ACA8-2525-BB04-FC98-9963AD3D27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CC31B-98DD-9DAA-1C70-1DF453C6B2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29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00B38F-3A7B-CD19-56D3-505A9B9B2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1926165"/>
            <a:ext cx="8514080" cy="421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61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ADF78-88F4-E39D-874D-D7159097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F621-63BA-AACC-8CB6-A3766113D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D2FBD-4583-CBAF-B17C-9D170D70F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BFC1E-36C7-502A-4B94-5FC3B9DE35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D4784-8034-ABD5-D250-B90ECEE59C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30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F26740-C090-69F4-8320-21A191D7F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46815"/>
            <a:ext cx="8534400" cy="421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970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794AA-13A7-5CE1-D431-B800B262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4DC5C-F041-9784-79F6-49A18128B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EBCD1-3ADC-C542-A502-3AC52840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BF4B7-7626-F4CC-AF76-BDB76F318F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CC409-1600-DAA9-2AC5-D2EA2A5051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31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0E053B-29B9-8E63-91AB-DE2FF776C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85950"/>
            <a:ext cx="85344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23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FD98-F2C5-3647-DC23-2B7A4B8F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8C3D-8EA6-F148-DF0D-1E7C8CB6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7A257-B66F-EC59-C8D9-5A5AFB203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CNN-LSTM Model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73B96-ADF0-A167-FAB2-897C43493B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379E7-6F21-41D0-0C60-7C6BAD6CB5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32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7FEC7A-2F36-10EB-7EA9-8EEF00ADD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1851584"/>
            <a:ext cx="8514080" cy="419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989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5AD4-1BF4-7E86-C640-C7E81C5BB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EFFE-A39C-E58E-5395-E6630026F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0447C-ADE8-D9C8-B2EC-E2101E6CD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-CNN Model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F07EF-E920-B10D-A8D4-87B206147C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6E9A9-5195-C492-F20B-CD4C244115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33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4BD67C-C33E-9DB1-E7AA-74924A4A4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2751"/>
            <a:ext cx="8544560" cy="418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66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A76BF-9695-F065-1CD6-18DA3040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0AD41-59D8-20AF-6499-DCCBB113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120C6-415E-A4C7-FF5A-86B8BAC16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 output after training 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5D94-2062-D230-4BDA-0296FD577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0759A-A299-5830-848F-56464FD7FC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34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A44429-5AEE-3FBA-F389-87E94D5F2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" y="1924679"/>
            <a:ext cx="8544560" cy="422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551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3EE9-32EB-5258-9271-151DFF9A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CD76-B4C4-D1E6-50BA-E29B6AAF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09871-4729-9B6C-B1AC-7366494E4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Sales 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4CC2-D078-3B6D-083B-2173015B4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12437-3247-142D-3D59-7CDFA1F557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35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97DC7E-5024-AC5D-AB6D-B51A5FDA0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889" y="2061209"/>
            <a:ext cx="7149947" cy="371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417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CEF75-5B53-DCCA-2F0A-07D4FA50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7460-0439-D848-C0FE-1A9B376B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9C99C-43BF-9329-F79E-605DF1270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comparing model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1BF5-5B48-1C5D-D97B-E27F2443BD6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547735"/>
            <a:ext cx="2133600" cy="365125"/>
          </a:xfrm>
        </p:spPr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C69DC-5763-EB7F-A3E2-DF95C57C39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36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5E4139-2C84-228A-5728-17BD95BC5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1836420"/>
            <a:ext cx="8331200" cy="46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09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3CA88-9A22-6227-C42F-E57CD37B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3AF1-7647-4650-97DB-5CC1080A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C9D7C-0DD6-55FD-E770-F6742FF8F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validation 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5B6F0-F3B8-F2B0-6BD4-375D364B09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73C84-FFEC-4099-EE35-76D2AE0BDD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37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6736F5-C4C6-E70F-43FE-E92A477EE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" y="1615757"/>
            <a:ext cx="8544560" cy="453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56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35001-B41E-41E6-2879-3D6FB4AE3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EB86C-7426-45DF-A9DE-E34E2617D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6E9E0-1155-5FEF-2421-9A1469F53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</a:t>
            </a:r>
          </a:p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CNN-LSTM: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CNN-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0A30-AFA5-A989-6C54-A712CA434F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29073-8BE6-A62D-1439-93F8ABA7BB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38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63AFF-B071-F9C7-CB05-FC63B7022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625" y="2465352"/>
            <a:ext cx="6193215" cy="643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C786FE-E49C-B9C8-D43C-606307FD2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624" y="5451104"/>
            <a:ext cx="6193215" cy="771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7D5ED0-B61E-CB14-1F32-292B5D446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624" y="3962242"/>
            <a:ext cx="6193215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010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1F055-6E85-2A22-606B-7D7BE15C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99FF-47E1-D119-A34E-590FD2F3F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71F87-B756-206C-6B3D-F111936C5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9F22A-76E7-1C1E-C10E-DD7F964010A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97625"/>
            <a:ext cx="2133600" cy="365125"/>
          </a:xfrm>
        </p:spPr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67407-7890-52F1-A149-829172A531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39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F6847-8C4A-8E14-60FD-976A3C12E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1967440"/>
            <a:ext cx="52101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61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051B6-BAB2-BB85-9B97-62C0FCB3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14E9-D0C9-B1B9-1F01-B136B9D2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A68EA-14BC-30A3-FCBE-F877DAAF4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BiLSTM,CNN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-LSTM ,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-CNN</a:t>
            </a: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8845A-BE54-4F11-D3EE-A1C2BDE1F8D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477000"/>
            <a:ext cx="2133600" cy="244475"/>
          </a:xfrm>
        </p:spPr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F253-3899-4B6A-E96D-6BFF27AF30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40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C52628-3740-E85B-D138-DDEC519D4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1946753"/>
            <a:ext cx="8300720" cy="453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15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3B343-B667-06DD-5C85-D4C733DD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D7C0-58D4-F616-CEFF-346CC1B85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8868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BBA7D-09D8-9346-434C-FDDD0D6BE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281"/>
            <a:ext cx="8229600" cy="4389437"/>
          </a:xfrm>
        </p:spPr>
        <p:txBody>
          <a:bodyPr/>
          <a:lstStyle/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8F3B6-63BF-D870-0418-73FDC4ECD7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C158B-654D-E395-1FB2-2A355839A9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41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04A2DC-3DCE-07A7-EA36-E88E9F4A9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952452"/>
              </p:ext>
            </p:extLst>
          </p:nvPr>
        </p:nvGraphicFramePr>
        <p:xfrm>
          <a:off x="1595120" y="2046815"/>
          <a:ext cx="6725919" cy="3098801"/>
        </p:xfrm>
        <a:graphic>
          <a:graphicData uri="http://schemas.openxmlformats.org/drawingml/2006/table">
            <a:tbl>
              <a:tblPr firstRow="1" bandRow="1">
                <a:tableStyleId>{8E62F8AC-4029-4E4F-970A-79537DD6D501}</a:tableStyleId>
              </a:tblPr>
              <a:tblGrid>
                <a:gridCol w="1673114">
                  <a:extLst>
                    <a:ext uri="{9D8B030D-6E8A-4147-A177-3AD203B41FA5}">
                      <a16:colId xmlns:a16="http://schemas.microsoft.com/office/drawing/2014/main" val="3244632510"/>
                    </a:ext>
                  </a:extLst>
                </a:gridCol>
                <a:gridCol w="1673114">
                  <a:extLst>
                    <a:ext uri="{9D8B030D-6E8A-4147-A177-3AD203B41FA5}">
                      <a16:colId xmlns:a16="http://schemas.microsoft.com/office/drawing/2014/main" val="3123575184"/>
                    </a:ext>
                  </a:extLst>
                </a:gridCol>
                <a:gridCol w="1673114">
                  <a:extLst>
                    <a:ext uri="{9D8B030D-6E8A-4147-A177-3AD203B41FA5}">
                      <a16:colId xmlns:a16="http://schemas.microsoft.com/office/drawing/2014/main" val="550937838"/>
                    </a:ext>
                  </a:extLst>
                </a:gridCol>
                <a:gridCol w="1706577">
                  <a:extLst>
                    <a:ext uri="{9D8B030D-6E8A-4147-A177-3AD203B41FA5}">
                      <a16:colId xmlns:a16="http://schemas.microsoft.com/office/drawing/2014/main" val="2130811023"/>
                    </a:ext>
                  </a:extLst>
                </a:gridCol>
              </a:tblGrid>
              <a:tr h="72477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IN" sz="1400" kern="100" baseline="30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0557299"/>
                  </a:ext>
                </a:extLst>
              </a:tr>
              <a:tr h="7806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13.02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-0.74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8020992"/>
                  </a:ext>
                </a:extLst>
              </a:tr>
              <a:tr h="7806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LSTM+CNN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11.30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7.66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6136965"/>
                  </a:ext>
                </a:extLst>
              </a:tr>
              <a:tr h="81273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BiLSTM+CNN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5.93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7321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702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14A8-E1FE-D020-5C31-A26437DA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56059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BF930-3997-08B3-146F-72B6739B388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477000"/>
            <a:ext cx="2133600" cy="365125"/>
          </a:xfrm>
        </p:spPr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DEADF-211A-15B7-3BA5-30BB02DC5C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42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4C53F23-B56A-27B2-596B-7F6EFF076E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8978" y="1411871"/>
            <a:ext cx="8018462" cy="4914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CNN–LSTM,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–CNN hybrid models outperform traditional models (MLP, CNN, LSTM) in demand forecasting, achieving higher MSE,MAE,R2.</a:t>
            </a:r>
          </a:p>
          <a:p>
            <a:pPr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CNN’s ability to extract local temporal patterns and LSTM/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BiLSTM’s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ability to capture sequential dependencies, the hybrid system provides more reliable seasonality and trend detection.</a:t>
            </a:r>
          </a:p>
          <a:p>
            <a:pPr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supports businesses in sales forecasting, inventory planning, and decision-making, ultimately reducing costs and improving operational efficiency.</a:t>
            </a:r>
          </a:p>
          <a:p>
            <a:pPr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285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88EC-DCA9-22D6-C776-EBD1AAC2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5018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9839A-BD4C-5416-5533-9AB2ACCA21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9/01/2025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B2844-AFCC-47EA-47D4-BA219C6D1E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43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2B48A04-409E-DA29-15CE-FD69DA8C4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4894" y="1692357"/>
            <a:ext cx="849910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holidays, promotions, and economic indicators for more accurate forecasting.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architectures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(like BERT or GPT for time series) to improve long-range dependency modeling.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systems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live business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the model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forecasting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predicting not just sales, but also revenue, profit, or customer demand).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the trained model into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dashboard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(with visualization tools like Power BI or Tableau) for user-friendly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3359722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1441938" y="2480286"/>
            <a:ext cx="7244862" cy="45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r>
              <a:rPr lang="en-US" sz="5400" b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</a:t>
            </a:r>
            <a:endParaRPr sz="5400" b="1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sz="5400"/>
          </a:p>
        </p:txBody>
      </p:sp>
      <p:sp>
        <p:nvSpPr>
          <p:cNvPr id="177" name="Google Shape;177;p25"/>
          <p:cNvSpPr txBox="1">
            <a:spLocks noGrp="1"/>
          </p:cNvSpPr>
          <p:nvPr>
            <p:ph type="dt" idx="10"/>
          </p:nvPr>
        </p:nvSpPr>
        <p:spPr>
          <a:xfrm>
            <a:off x="264694" y="6477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9/01/2025 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10AE20-7F65-7A52-6876-B1C94FE5E3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3269</TotalTime>
  <Words>2124</Words>
  <Application>Microsoft Office PowerPoint</Application>
  <PresentationFormat>On-screen Show (4:3)</PresentationFormat>
  <Paragraphs>448</Paragraphs>
  <Slides>44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Cambria Math</vt:lpstr>
      <vt:lpstr>Noto Sans Symbols</vt:lpstr>
      <vt:lpstr>Times New Roman</vt:lpstr>
      <vt:lpstr>Wingdings</vt:lpstr>
      <vt:lpstr>Flow</vt:lpstr>
      <vt:lpstr>PowerPoint Presentation</vt:lpstr>
      <vt:lpstr>INTRODUCTION</vt:lpstr>
      <vt:lpstr>Objectives</vt:lpstr>
      <vt:lpstr>LITERATURE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SYSTEM</vt:lpstr>
      <vt:lpstr>PROPOSED SYSTEM</vt:lpstr>
      <vt:lpstr>SYSTEM FLOW DIAGRAM</vt:lpstr>
      <vt:lpstr>MODULE IDENTIFICATION</vt:lpstr>
      <vt:lpstr>MODULE IDENTIFICATION</vt:lpstr>
      <vt:lpstr>MODULE DESCRIPTION</vt:lpstr>
      <vt:lpstr>MODULE DESCRIPTION</vt:lpstr>
      <vt:lpstr>MODULE DESCRIPTION</vt:lpstr>
      <vt:lpstr>MODULE DESCRIPTION</vt:lpstr>
      <vt:lpstr> PREDICTION &amp; EVALUATION</vt:lpstr>
      <vt:lpstr> PREDICTION &amp; EVALUATION</vt:lpstr>
      <vt:lpstr>DATASET DESCRIPTION</vt:lpstr>
      <vt:lpstr>PREPROCESSING TECHNIQUES</vt:lpstr>
      <vt:lpstr>PREPROCESSING TECHNIQUES</vt:lpstr>
      <vt:lpstr>Tools and Technologies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PERFORMANCE ANALYSIS</vt:lpstr>
      <vt:lpstr>CONCLUSION</vt:lpstr>
      <vt:lpstr>Future Enhancements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maddy anas</dc:creator>
  <cp:lastModifiedBy>maddy anas</cp:lastModifiedBy>
  <cp:revision>13</cp:revision>
  <dcterms:modified xsi:type="dcterms:W3CDTF">2025-10-15T18:50:56Z</dcterms:modified>
</cp:coreProperties>
</file>